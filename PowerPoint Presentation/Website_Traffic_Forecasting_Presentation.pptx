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256" r:id="rId5"/>
    <p:sldId id="257" r:id="rId6"/>
    <p:sldId id="258" r:id="rId7"/>
    <p:sldId id="261" r:id="rId8"/>
    <p:sldId id="288" r:id="rId9"/>
    <p:sldId id="289" r:id="rId10"/>
    <p:sldId id="306" r:id="rId11"/>
    <p:sldId id="290" r:id="rId12"/>
    <p:sldId id="307" r:id="rId13"/>
    <p:sldId id="311" r:id="rId14"/>
    <p:sldId id="312" r:id="rId15"/>
    <p:sldId id="294" r:id="rId16"/>
    <p:sldId id="299" r:id="rId17"/>
    <p:sldId id="298" r:id="rId18"/>
    <p:sldId id="313" r:id="rId19"/>
    <p:sldId id="314" r:id="rId20"/>
    <p:sldId id="301" r:id="rId21"/>
    <p:sldId id="315" r:id="rId22"/>
    <p:sldId id="316" r:id="rId23"/>
    <p:sldId id="317" r:id="rId24"/>
    <p:sldId id="318" r:id="rId25"/>
    <p:sldId id="319" r:id="rId26"/>
    <p:sldId id="304" r:id="rId27"/>
    <p:sldId id="320" r:id="rId28"/>
    <p:sldId id="269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1488" y="3136392"/>
            <a:ext cx="7852724" cy="50292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Traffic Forecasting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7" y="3721608"/>
            <a:ext cx="3495877" cy="34836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Rakesh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Choudhary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3BD8413-C238-49D7-A4E1-E8FEF1811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244065"/>
            <a:ext cx="7781544" cy="859055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5F4DE-39B7-4CE2-BC1E-8B8AE662A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2264484"/>
            <a:ext cx="6803136" cy="3069516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Exploration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Deployment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Evaluation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24BF10-2B55-43AB-9F77-F1A141038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875C19A-1AAE-476A-A316-A2CF92D76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4"/>
            <a:ext cx="6718300" cy="3907197"/>
          </a:xfrm>
        </p:spPr>
        <p:txBody>
          <a:bodyPr/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develop a robust forecasting model to predict daily Page Loads using ARIMA, Random Forest, and LSTM models. By leveraging a combination of statistical, machine learning, and deep learning approaches, the model will enhance forecasting accuracy, capture complex patterns, and provide valuable insights into website traffic trends.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enable data-driven decision-making by helping businesses anticipate traffic fluctuations, optimize server resources, and improve marketing and content strategies.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improved traffic predictions, companies can proactively manage website performance, enhance user experience, and drive higher engagement and conversions.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9800F6-D571-48C4-8466-12AA1ADB6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11214099" cy="1119654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8 columns in the dataset which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2167 entries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2 columns with integer data types and 6 columns with object data types.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target feature is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column.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type="body" sz="quarter" idx="2"/>
          </p:nvPr>
        </p:nvSpPr>
        <p:spPr>
          <a:xfrm>
            <a:off x="444499" y="2640906"/>
            <a:ext cx="3894419" cy="3175262"/>
          </a:xfrm>
        </p:spPr>
        <p:txBody>
          <a:bodyPr>
            <a:no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Index of the data point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Day of the month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Day.Of.Week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Day of the week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Full date of the traffic data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page loads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Unique.Visits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unique visitors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First.Time.Visits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first-time visitors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Returning.Visits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Number of returning visitors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8F328B-7227-9ECE-BC55-00E646CB4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684" y="2640907"/>
            <a:ext cx="7003915" cy="270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CF5A6-04E8-C37A-0ADF-0C37356DE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218673A-8642-DB28-35A4-EC5E41C45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BAADE6-D809-32F5-9F57-296429A5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DAF4216-4A1C-5867-AA79-5F893D84E31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1" y="1417358"/>
            <a:ext cx="5651499" cy="201164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Values: There is no missing values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Duplicates Values: There is no duplicates values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checking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&amp; duplicates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values, the updated dataset size is 2167.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EAC407-7C54-1712-1E4B-DFB7A91D3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687" y="1954119"/>
            <a:ext cx="2810164" cy="294976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540A00-E63F-1D3C-65AE-01B1592DC3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7275" y="3636845"/>
            <a:ext cx="3944275" cy="12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4128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967C-81BD-5634-8CCF-AC5503C724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E2E663-02EB-CD52-B246-B308783F4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539851-800C-8CE1-B578-B2043C14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4AE84D-ED77-43DF-C672-EBE8AB725DA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5651500" cy="1432684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Formatting : Handling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of ‘Date’ column to ensured proper date-time format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Setting index of the dataset using ‘Date’ column for proper indexing in the dataset.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726CD7-7E99-0820-5B44-EE94652D2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9423" y="1537386"/>
            <a:ext cx="4122777" cy="14326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1A5BFA-BF04-D7F9-0B1B-01C3A290B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911" y="3429000"/>
            <a:ext cx="8733277" cy="2293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278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5BA5-6055-C554-27B3-E7CA3CAC82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01E572E-2E0A-7D96-1D0F-45977768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01C633-F342-CA70-38B5-3AEFC7649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C6CDB85-AF3E-A8C0-0D52-12BD1D7361A4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5607050" cy="201164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Data-Type Formatting : Handling Data-Type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formatting of columns to ensured proper data-types in the dataset.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commas in the dataset using lambda function.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Converting data-types of ‘object’ data-type columns into ‘int’ data-type.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3F554-38D7-D7B2-942C-AA29982418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1698689"/>
            <a:ext cx="5935014" cy="13971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9E7DAF-63CF-78BA-81D4-40D20A4DDD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722" y="3716075"/>
            <a:ext cx="8725656" cy="2232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9570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8AB1A-7C85-D5D3-953C-34E53EA84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BC581C-673A-20B6-E788-58E7B2049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A3623E-137B-3E49-B8A0-64771AF77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A916702-F453-4015-0493-8E5B6DC0346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7"/>
            <a:ext cx="5651500" cy="264365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enhance the dataset with meaningful temporal and statistical features to improve predictive accuracy, the following features can be engineered from the available data :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‘Year’, ‘Month’, ‘Week’, ‘Day’,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Day_Of_Week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‘Lag_1’, ‘Lag_7’, ‘Rolling_Mean_7’.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engineered features provide valuable historical and seasonal insights, enhance trend detection and improving model predictions.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8C64FF-CC8D-5D1D-D927-5F594B2D8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019" y="1417327"/>
            <a:ext cx="4775011" cy="28594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27F9E8-1D89-7E9E-7823-02FA21810C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070" y="4492441"/>
            <a:ext cx="10386960" cy="161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8340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EE987-0FB4-681E-1A2C-D5F2FACE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E782DD-B779-4026-4791-70756B15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B9A948-05BC-61DD-A7B2-5EEFB9A3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37CA96-CAE2-9057-C22E-A8A0B0F9EB3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is used to get seasonal data about ‘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column over the time.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2846580F-B361-EEF8-0E32-3C6744C6DBB5}"/>
              </a:ext>
            </a:extLst>
          </p:cNvPr>
          <p:cNvSpPr txBox="1">
            <a:spLocks/>
          </p:cNvSpPr>
          <p:nvPr/>
        </p:nvSpPr>
        <p:spPr>
          <a:xfrm>
            <a:off x="444499" y="5449057"/>
            <a:ext cx="11214099" cy="635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a clear seasonal trend in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periodic spikes indicating recurring high-traffic periods.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time, traffic fluctuates but follows a consistent cyclical pattern.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E0DC9F-4E8F-FB96-A0A0-04C918CA3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567" y="1760997"/>
            <a:ext cx="7017964" cy="367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8042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00451-D16A-D129-999D-3D73771A2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D56A61-5FC8-6B58-FDD1-768103B04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060F90-BA2D-F615-D7B4-A1271CEBD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3BE45D-74B9-A543-486F-CC16454C28F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of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Scatter Plot is used to get seasonal data about Different Traffic Metrics over the time.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601A06A6-6140-CF2E-D7C8-EB25BE72A634}"/>
              </a:ext>
            </a:extLst>
          </p:cNvPr>
          <p:cNvSpPr txBox="1">
            <a:spLocks/>
          </p:cNvSpPr>
          <p:nvPr/>
        </p:nvSpPr>
        <p:spPr>
          <a:xfrm>
            <a:off x="444497" y="5451030"/>
            <a:ext cx="11214099" cy="63500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chart shows seasonal patterns in website traffic, with periodic peaks and troughs.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Page Loads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highest, followed by Unique &amp; First-Time Visits, while Returning Visits remain stable over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A73043-CBE8-194F-1D98-C89E3D2BE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631" y="1752581"/>
            <a:ext cx="7053830" cy="369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07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09ECA-1401-4F2A-00CA-568B24741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E7B7A8D-D290-F03D-0BCF-CBB89CFE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8485F2-9DAE-0976-CE9B-235C6E9DB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1FD208D-A657-86CD-692B-3D242AB1848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9"/>
            <a:ext cx="11214099" cy="335222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Visualization is used to shows Time Series Decomposition of ‘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column over the time.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9D6380-AFC6-8836-D148-7A3B0A9200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99" y="1961860"/>
            <a:ext cx="94869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683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683D4-FA95-95CA-2B3C-574B6AE03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946312-24E9-12DE-8767-64691EE35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7F6870-DEB4-3BA6-E1FE-3A1E866B6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F960FD1-8571-607D-4E1B-84CF10AD932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1" y="1417357"/>
            <a:ext cx="3464111" cy="317781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Matrix is used to get correlation between all features and ‘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column.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some important features which have correlation with ‘</a:t>
            </a:r>
            <a:r>
              <a:rPr lang="en-IN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column namely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First.Time.Visits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Returning.Visits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‘Lag_7’, ‘Lag_1’, ‘Rolling_Mean_7’,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Day_Of_Week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997EC9-B72A-083C-8323-C0976AEF6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670" y="1417358"/>
            <a:ext cx="4936828" cy="4318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9A4CC2-7FEF-039A-37C8-F5B8E375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283" y="1417357"/>
            <a:ext cx="2476715" cy="31778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3B1E346-E45A-DCAF-C846-B7C2D0C4D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499" y="5794321"/>
            <a:ext cx="9213317" cy="39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870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D3C6D-8E64-1B18-2AFA-B717150B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F9BF65-AC9E-4017-9007-CFB2FA94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85B383-0E36-01FA-28C2-E8ADDBB43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DCFF32-9966-85F4-4A83-E1266BE1BB6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5034828" cy="2966383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Scaler is used to scale all features to ensure consistent scaling of the dataset.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Standard Scaler standardizes all features by removing the mean and scaling them to unit variance, ensuring all features have a comparable scale.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is crucial as it optimizes the performance of predictive models by preventing features with larger scales from dominating others features.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8F35E2-17EB-333A-0014-8DA451ABD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97" y="1505551"/>
            <a:ext cx="3195526" cy="17042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9C2E04-8CD6-AC82-C2C9-3726CB0D9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2797" y="3429000"/>
            <a:ext cx="5034828" cy="2557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4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047A4-64FB-BCA9-4AC9-FB3DC478A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098DAC-81DF-635E-430C-BF1160D84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E30330-0E1F-D263-9D92-CDDF22AD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BF5C8E-F3E0-C15E-0101-9144CA78E1C8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8"/>
            <a:ext cx="5651500" cy="3816731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Data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step, we divided the dataset into two parts: X and y.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contains all the independent variables, which are the features used to make predictions.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Meanwhile, y represents the dependent variable or target variable, which is the outcome we want to predict.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Train-Test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Splitting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Step, the dataset was split into training and testing sets.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80:20 ratio was used, with 80% of the data allocated to training and 20% to testing, and the test size set to 0.2 and the shuffle parameter set to false to prevent shuffling of the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ACD842-47D2-AFD3-D500-1C1AAA6E4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42125"/>
            <a:ext cx="5654223" cy="38167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496AAB-922D-F1E0-11DD-80AA2F462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017" y="5234089"/>
            <a:ext cx="4068466" cy="89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30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08955-90F5-35F5-8F89-BDA90CAE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F15C5A-36A2-DAC6-4F07-3B1DA3384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30279-7AF7-F1FB-DD4A-BC96BC429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AF33A0-06B8-87B2-7886-17844430E0C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354604"/>
            <a:ext cx="11214100" cy="489771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Model Selection step, we have to select models for forecasting of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metric to evaluate Website Traffic Forecasting Performance. 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this is a time series regression problem, appropriate models were selected to capture trends, seasonality, and complex patterns in the data.</a:t>
            </a:r>
          </a:p>
          <a:p>
            <a:pPr algn="l"/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(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AutoRegressive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Moving Average):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Well-suited for capturing linear trends and seasonality in time series data.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Effective for stationary data, provides interpretable coefficients, and is useful for short-term forecasting.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Struggles with complex, non-linear patterns and requires parameter tuning for optimal performance.</a:t>
            </a:r>
          </a:p>
          <a:p>
            <a:pPr algn="l"/>
            <a:endParaRPr lang="en-US" sz="16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Regressor: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non-linear relationships by leveraging ensemble learning.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Robust to noise, captures complex patterns, and performs well on large datasets.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Higher computational cost and less interpretability compared to traditional time series models.</a:t>
            </a:r>
          </a:p>
        </p:txBody>
      </p:sp>
    </p:spTree>
    <p:extLst>
      <p:ext uri="{BB962C8B-B14F-4D97-AF65-F5344CB8AC3E}">
        <p14:creationId xmlns:p14="http://schemas.microsoft.com/office/powerpoint/2010/main" val="20804511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51BA-7F18-6594-CD43-C5866E34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43A0CB-FDEF-A75C-117B-F45C1D93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E153301-0E8B-D819-C42D-436AAFEC9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9F31450-C3A1-2A48-85CD-99BCB68F774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500" y="1417357"/>
            <a:ext cx="11214100" cy="4897717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accuracy of the model, Deep Learning Model is used for forecasting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Page.Loads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metric by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capturing complex patterns in the data.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 designed to learn long-term dependencies in sequential data.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 Captures complex temporal patterns and long-term dependencies, improving accuracy for time series forecasting.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Limitation: Requires a large dataset, high computational power, and longer training time.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approach combining these models was used to leverage their strengths and improve forecasting accuracy.</a:t>
            </a:r>
          </a:p>
        </p:txBody>
      </p:sp>
    </p:spTree>
    <p:extLst>
      <p:ext uri="{BB962C8B-B14F-4D97-AF65-F5344CB8AC3E}">
        <p14:creationId xmlns:p14="http://schemas.microsoft.com/office/powerpoint/2010/main" val="4662942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25442-F4CC-54CC-BEA6-DA93698AB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ED1E96-7FD6-5CCE-CE83-0CCA3A2C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E148A9-45EF-FA13-B2D7-A3788E3E2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98F7AF5-641F-9959-9EA1-D885FF9B115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20287"/>
            <a:ext cx="4064747" cy="242575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ARIMA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1212.85.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26.32%.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-0.05.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ARIMA model is not well performed.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422C0-5AD1-85A9-2399-4451BA4F2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0837" y="1848143"/>
            <a:ext cx="7047763" cy="32438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CA75327-202F-9B1D-F24F-16D18D39F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69" y="4346042"/>
            <a:ext cx="2728196" cy="708721"/>
          </a:xfrm>
          <a:prstGeom prst="rect">
            <a:avLst/>
          </a:prstGeom>
        </p:spPr>
      </p:pic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28742325-4F72-D425-47DE-12A544FD4E60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ARIMA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506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5FF10-367C-DC53-DAE4-64B904259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A2E879-8DAE-00C3-650F-774BA0159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B5FCD5-57E6-AEA7-31D3-FBD49DCD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E2F2CE-4796-74D1-13BF-362F37C9AA72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2" y="1920287"/>
            <a:ext cx="4064747" cy="2409666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RF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299.63.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5.97%.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0.94.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RF model is well performed as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ARIMA model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D15E214-84B9-B198-97DB-CC72463A595A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3BA9D-FE94-8FF0-82FC-BA129DED7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7" y="1848143"/>
            <a:ext cx="7058693" cy="3225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01B582D-35FE-AD5A-0C26-E3BF1469EA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612" y="4329953"/>
            <a:ext cx="3284505" cy="693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756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31163-5D01-FFBE-63E0-537E6A635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3CA12EC-6F9A-2C99-8D25-691F6FCFB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06E5041-62E1-9399-D922-39EFA9B02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116B7A-D334-B990-DA0D-D8A170E87F4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6" y="1920286"/>
            <a:ext cx="4064747" cy="2884795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RF model after Hyper-tuning the values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263.78.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5.34%.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0.95.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Fine Tuned RF model is well performed as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normal RF model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FB3B6E89-5841-6882-F4D1-1A4031B49900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Tuned RF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44C5E9-C206-AE7E-8B5C-46E8B1DEC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7" y="1848143"/>
            <a:ext cx="7058693" cy="3225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530DC24-1051-53D0-8B6B-05E29FBB8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86" y="4805081"/>
            <a:ext cx="3749365" cy="95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6132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5197C-235C-41A8-FF3D-91A9E2F3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DE9066-DC7D-0C97-778D-1DBD6CFAEB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1162FB-6FE6-FFF0-5DD7-5E7000A2F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ED3C4F-0730-D13A-A019-200A124F418A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6" y="1920286"/>
            <a:ext cx="4064747" cy="2651713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Hybrid (ARIMA + Best RF)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267.10.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6.47%.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0.95.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(ARIMA + Best RF) model is well performed.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001B14B-6DAB-917F-F4B1-F78B359D42D9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(ARIMA + Best RF)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383F78-C254-8DB7-6486-ADF771BA9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6" y="1848143"/>
            <a:ext cx="7058694" cy="3225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1D9137-C7DB-858B-8924-F1F7081CB2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098" y="4571999"/>
            <a:ext cx="2781541" cy="73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322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26FD4-6177-C844-E1C8-14D805A00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6C96C4-7609-02DF-ACD4-0BBC8E872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E20AC0-DF8D-D877-692F-1C1E54E5C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27C0491-140A-0F58-D83A-1A72FEA0EA2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4" y="1915805"/>
            <a:ext cx="4064747" cy="2692054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LSTM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245.97.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5.02%.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0.96.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LSTM model is well performed as compared to Fine Tuned RF model and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Trained Hybrid model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7E3D8D6-C9F9-5573-96B5-C45D621A5DF6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D99A0F-AF11-D529-43C8-1474D39D3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6" y="1920287"/>
            <a:ext cx="7058694" cy="32258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0F5248-6FD2-A98E-A9DB-D9BA990A0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837" y="4607859"/>
            <a:ext cx="2530059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907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603DF-FC39-8D98-1AB4-42AB07E2F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4DEE35-130C-15AD-7886-955F45806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98E0723-12E6-7B01-B819-F879BADC0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472FDA-C78B-FACC-59BC-D18484DEACA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5" y="1920286"/>
            <a:ext cx="4064747" cy="2911689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step,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evaluation of Hybrid (ARIMA + Best RF + LSTM) model is shown below.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RMSE Value is 227.24.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MAPE Value is 5.39%.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R-2 Score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0.96.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(ARIMA + Best RF + LSTM) model is well performed as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to all other models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AEF252-039B-DDBF-31C4-A31F18137DC0}"/>
              </a:ext>
            </a:extLst>
          </p:cNvPr>
          <p:cNvSpPr txBox="1">
            <a:spLocks/>
          </p:cNvSpPr>
          <p:nvPr/>
        </p:nvSpPr>
        <p:spPr>
          <a:xfrm>
            <a:off x="444496" y="1384756"/>
            <a:ext cx="4064747" cy="53553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(ARIMA + Best RF + LSTM) Model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DEB1A2-B4AE-E031-8851-4F55D9A35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07" y="1920287"/>
            <a:ext cx="7058693" cy="32258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DBC3BF3-8CE5-91C8-03FE-E7DC17B39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770" y="4831975"/>
            <a:ext cx="2728196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9576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33E7A8-E724-FB9B-CB9B-5DB55DE2C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57B797-3263-1F9A-AC6B-95569A3AD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104ED-1DEA-0596-FB7F-112664AD6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CF07489-23BF-9CF3-8927-0E421D017A2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9" y="1417357"/>
            <a:ext cx="11303002" cy="535531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Visualization of Feature 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from 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</a:t>
            </a:r>
            <a:r>
              <a:rPr lang="en-IN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which features have more importance in the model.</a:t>
            </a: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A880DCFF-65C4-D4CB-C037-DC0EF8967FDC}"/>
              </a:ext>
            </a:extLst>
          </p:cNvPr>
          <p:cNvSpPr txBox="1">
            <a:spLocks/>
          </p:cNvSpPr>
          <p:nvPr/>
        </p:nvSpPr>
        <p:spPr>
          <a:xfrm>
            <a:off x="444500" y="2074338"/>
            <a:ext cx="5366390" cy="356446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feature has the highest importance, followed by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First.Time.Visits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indicating that new visitors play a significant role in predicting page loads.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‘Lag_1’ has moderate importance, showing that recent traffic trends influence predictions.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Returning.Visits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’, ‘Lag_7’, and ‘Rolling_Mean_7’ have minimal importance compared to the top features.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remaining features (‘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Is_Weekend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and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Day_Of_Week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’) have negligible importance in the hybrid model.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3125BA-4E79-1556-C8B2-A445C6C894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2074338"/>
            <a:ext cx="5645042" cy="324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081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CFC8E-DB77-B449-4B06-CFA68A9FD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3509E18-6BD9-B5F1-89CB-3E8D1C26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D59E29-88AB-79E8-35AC-D0A7DAF08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3516C-8F5B-E076-DD41-6A719F4D43DD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444499" y="1417357"/>
            <a:ext cx="10807701" cy="4897718"/>
          </a:xfrm>
        </p:spPr>
        <p:txBody>
          <a:bodyPr>
            <a:noAutofit/>
          </a:bodyPr>
          <a:lstStyle/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 Insights: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Unique.Visits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&amp; ‘</a:t>
            </a:r>
            <a:r>
              <a:rPr lang="en-US" sz="1800" b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First.Time.Visits</a:t>
            </a: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are the strongest predictors, highlighting the importance of attracting new visitors.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‘Lag_1’ (Previous Day’s Traffic) has moderate influence, while ‘Lag_7’ and other features contribute minimally.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Model (ARIMA + Best RF + LSTM) improves accuracy by combining statistical, tree-based, and deep learning approaches.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Focusing on key traffic drivers enhances prediction efficiency.</a:t>
            </a:r>
          </a:p>
          <a:p>
            <a:pPr marL="285750" indent="-285750" algn="l">
              <a:buFont typeface="Wingdings" panose="05000000000000000000" pitchFamily="2" charset="2"/>
              <a:buChar char="v"/>
            </a:pPr>
            <a:endParaRPr lang="en-US" sz="18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buFont typeface="Wingdings" panose="05000000000000000000" pitchFamily="2" charset="2"/>
              <a:buChar char="v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Impact: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Prioritizing new visitors can significantly boost website traffic.</a:t>
            </a: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US" sz="18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Short-term trends matter more than weekly patterns, helping optimize real-time marketing.</a:t>
            </a:r>
          </a:p>
        </p:txBody>
      </p:sp>
    </p:spTree>
    <p:extLst>
      <p:ext uri="{BB962C8B-B14F-4D97-AF65-F5344CB8AC3E}">
        <p14:creationId xmlns:p14="http://schemas.microsoft.com/office/powerpoint/2010/main" val="20946623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771863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1029</TotalTime>
  <Words>1707</Words>
  <Application>Microsoft Office PowerPoint</Application>
  <PresentationFormat>Widescreen</PresentationFormat>
  <Paragraphs>171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Calibri</vt:lpstr>
      <vt:lpstr>Courier New</vt:lpstr>
      <vt:lpstr>Times New Roman</vt:lpstr>
      <vt:lpstr>Trade Gothic LT Pro</vt:lpstr>
      <vt:lpstr>Trebuchet MS</vt:lpstr>
      <vt:lpstr>Wingdings</vt:lpstr>
      <vt:lpstr>Office Theme</vt:lpstr>
      <vt:lpstr>Website Traffic Forecasting</vt:lpstr>
      <vt:lpstr>Agenda</vt:lpstr>
      <vt:lpstr>Project Overview</vt:lpstr>
      <vt:lpstr>Dataset Overview</vt:lpstr>
      <vt:lpstr>Data Preprocessing</vt:lpstr>
      <vt:lpstr>Data Preprocessing</vt:lpstr>
      <vt:lpstr>Data Preprocessing</vt:lpstr>
      <vt:lpstr>Feature Engineering</vt:lpstr>
      <vt:lpstr>Data Exploration</vt:lpstr>
      <vt:lpstr>Data Exploration</vt:lpstr>
      <vt:lpstr>Data Exploration</vt:lpstr>
      <vt:lpstr>Data Exploration</vt:lpstr>
      <vt:lpstr>Data Exploration</vt:lpstr>
      <vt:lpstr>Model Deployment</vt:lpstr>
      <vt:lpstr>Model Deployment</vt:lpstr>
      <vt:lpstr>Model Deployment</vt:lpstr>
      <vt:lpstr>Model Evaluation</vt:lpstr>
      <vt:lpstr>Model Evaluation</vt:lpstr>
      <vt:lpstr>Model Evaluation</vt:lpstr>
      <vt:lpstr>Model Evaluation</vt:lpstr>
      <vt:lpstr>Model Evaluation</vt:lpstr>
      <vt:lpstr>Model Evaluation</vt:lpstr>
      <vt:lpstr>Model Evaluation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Rakesh Choudhary</dc:creator>
  <cp:lastModifiedBy>Rakesh Choudhary</cp:lastModifiedBy>
  <cp:revision>3</cp:revision>
  <dcterms:created xsi:type="dcterms:W3CDTF">2025-01-27T06:28:55Z</dcterms:created>
  <dcterms:modified xsi:type="dcterms:W3CDTF">2025-02-28T17:41:12Z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